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A68"/>
                </a:solidFill>
              </a:defRPr>
            </a:pPr>
            <a:r>
              <a:t>Slip-Cast Ceramic Udu Drum Family — v4.1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Musical instrument documentation capstone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Build packet: udu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Generated: 2026-05-07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Project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Build a slip-cast ceramic udu family — Small / Medium / Large / XL — with</a:t>
            </a:r>
            <a:br/>
            <a:r>
              <a:t>repeatable chamber volumes and two playable Helmholtz tones: the main mouth</a:t>
            </a:r>
            <a:br/>
            <a:r>
              <a:t>tone and the side-hole slap tone. The first production target is the</a:t>
            </a:r>
            <a:br/>
            <a:r>
              <a:t>**Medium** standard udu (UDU-P2: 10 in × 12 in body, B3 mouth / G3 side),</a:t>
            </a:r>
            <a:br/>
            <a:r>
              <a:t>followed by a scaled family. The udu (Igbo: *ụdụ*, "vessel") is a Nigerian</a:t>
            </a:r>
            <a:br/>
            <a:r>
              <a:t>clay-vessel drum and the documentation here treats that lineage as fact, not</a:t>
            </a:r>
            <a:br/>
            <a:r>
              <a:t>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Physics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The udu uses a shared chamber with two coupled Helmholtz resonators:</a:t>
            </a:r>
          </a:p>
          <a:p>
            <a:pPr>
              <a:spcAft>
                <a:spcPts val="1000"/>
              </a:spcAft>
              <a:defRPr sz="1600">
                <a:solidFill>
                  <a:srgbClr val="1F3A68"/>
                </a:solidFill>
                <a:latin typeface="Consolas"/>
              </a:defRPr>
            </a:pPr>
            <a:r>
              <a:t>f_top  = c/(2*pi) * sqrt( A_top  / (V * L_top)  )</a:t>
            </a:r>
            <a:br/>
            <a:r>
              <a:t>f_side = c/(2*pi) * sqrt( A_side / (V * L_side) )</a:t>
            </a:r>
            <a:br/>
            <a:r>
              <a:t>L      = wall_thickness + 0.6 * sqrt(A/pi)</a:t>
            </a:r>
            <a:br/>
            <a:r>
              <a:t>V      = (pi/6) * body_diam^2 * body_height * shape_factor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Hardware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This repo is one of the slip-cast targets for the in-flight Bambu printer +</a:t>
            </a:r>
            <a:br/>
            <a:r>
              <a:t>ceramic kiln pipeline shared with `ocarina/`, `gemshorn/`, and</a:t>
            </a:r>
            <a:br/>
            <a:r>
              <a:t>`transverse-flute/`. The build chain: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566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Tool / pipeline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Design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`udu-design-table.xlsx` Master_Inputs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Blue cells = inputs; volume formula derived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Master scaling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`master_scale_factor = 1/(1 - measured_shrinkage)`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Re-derive per slip batch — see risks.md SUP-01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Master 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Bambu X1C (UDU-S, UDU-M) or outsourced print (UDU-L, UDU-XL)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X1C envelope ≈ 256 mm; L/XL exceed it — see risks.md SUP-02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Mold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Two-piece plaster mother mold, USG #1 pottery plaster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Split line off the hand-contact equator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Cone 6 stoneware casting slip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Shrinkage coupon required per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Trim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Side hole cut at leather-hard, undersized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Final tune at bisque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Cone 06 bisque → Cone 6 glaze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Glaze exterior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`validation.csv` mouth/side/coupled measurements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`record_measurement.py` updates per-family corrections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CAD round-trip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`UDU-000_MasterLayout.SLDPRT` ↔ `cad/sw-design-table.xlsx`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See `sw-reference/` for the SW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How To Use This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Start with design.md for intent and assumptions.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bom.csv, sourcing.csv, and cut-list.csv before buying or cutting.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drawing-brief.md and CAD/CNC folders before machining.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Print the packet for shopping, shop work,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design.md: Project intent, catalog metadata, assumptions, and validation plan.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bom.csv: Starter bill of materials with part categories, quantities, drawing refs, and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sourcing.csv: Supplier/search tracker with specs, price/date fields, lead time, substitutes, and risks.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cut-list.csv: Rough/final stock sizes, material, grain/orientation, operations, yield, and offcuts.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drawing-brief.md: Manufacturing drawing and technical product sketch brief.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assembly-manual.md: Shop-facing sequence, tools, fixtures, safety, tuning, finishing, and maintenance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validation.csv: Target/measured values, tolerance, environment, result, and tuning/build action log.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supplier-rfq.md: Supplier email/request-for-quote starter.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Family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77"/>
                <a:gridCol w="535580"/>
              </a:tblGrid>
              <a:tr h="3931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member_id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target_note_mouth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target_hz_mouth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target_note_side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target_hz_side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body_diam_in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body_height_in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wall_thk_in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mouth_diam_in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side_diam_in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shape_factor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chamber_volume_cuin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predicted_hz_mouth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predicted_hz_side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cents_error_mouth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cents_error_side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master_scale_factor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clay_body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shrinkage_pct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reference_repo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UDU-S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311.13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234.6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340.8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262.4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+157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+304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Cone 6 stoneware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Small/tabletop. Predictions sharp of targets — mouth dia likely needs to drop ~2.5 in OR shape factor increased to reduce predicted Hz; flag for empirical UDU-P1 measurement.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UDU-M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246.94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196.00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439.8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248.9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191.6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+14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-39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1.136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Cone 6 stoneware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Medium/standard. Workbook prototype-1 target. Predictions within ±50¢ of targets — hits the v4 design-table band.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UDU-L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G#3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207.65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146.83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738.8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192.1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-126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+14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Cone 6 stoneware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Large/deep bass. Mouth prediction flat of target — port may need to enlarge slightly OR shape factor reduced; flag for empirical UDU-L measurement.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UDU-XL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F3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174.61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130.81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16.0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1148.7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153.9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118.5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-220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-172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1.136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Cone 6 stoneware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udu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11111"/>
                          </a:solidFill>
                        </a:defRPr>
                      </a:pPr>
                      <a:r>
                        <a:t>Concert bass. Predictions flat across both ports — XL may need port scaling (mouth 3.5+ in) to recover pitch; needs stand. Flag as design risk — see risks.md.</a:t>
                      </a:r>
                    </a:p>
                  </a:txBody>
                  <a:tcPr>
                    <a:solidFill>
                      <a:srgbClr val="E8EE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 and assumptions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Source materials and hardware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Prepare stock, fixtures, and CNC/laser/lathe setup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Assemble, tune, finish, and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Sourcing And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 gives part categories and drawing references.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 tracks search terms, supplier candidates, price/date, lead time, substitutions.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Visual BOM brief turns the parts list into a presentation-ready image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Shop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 list for lumber/sheet/blank planning.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 manual for away-from-keyboard work.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 sheet for measured dimensions, tuning, pass/fail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Drawings, CAD, CNC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 defines required views, dimensions, datums, sketch intent.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cad/ holds models and design tables.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cnc/ holds CAM, toolpaths, setup sheets, dry-run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drawings/ holds PDFs, SVGs, DXFs, drawing exports.</a:t>
            </a:r>
          </a:p>
        </p:txBody>
      </p:sp>
      <p:pic>
        <p:nvPicPr>
          <p:cNvPr id="5" name="Picture 4" descr="UDU-L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985" y="1463040"/>
            <a:ext cx="238887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32461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UDU-L-body.png</a:t>
            </a:r>
          </a:p>
        </p:txBody>
      </p:sp>
      <p:pic>
        <p:nvPicPr>
          <p:cNvPr id="7" name="Picture 6" descr="UDU-M-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585" y="1463040"/>
            <a:ext cx="2388870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89720" y="32461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UDU-M-body.png</a:t>
            </a:r>
          </a:p>
        </p:txBody>
      </p:sp>
      <p:pic>
        <p:nvPicPr>
          <p:cNvPr id="9" name="Picture 8" descr="UDU-S-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3840480"/>
            <a:ext cx="238887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6235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UDU-S-body.png</a:t>
            </a:r>
          </a:p>
        </p:txBody>
      </p:sp>
      <p:pic>
        <p:nvPicPr>
          <p:cNvPr id="11" name="Picture 10" descr="UDU-XL-bo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585" y="3840480"/>
            <a:ext cx="238887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89720" y="56235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UDU-XL-body.png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Images And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images/family-overview-concept.png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images/family-overview-concept.svg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images/hero-concept.png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images/hero-concept.svg</a:t>
            </a:r>
          </a:p>
        </p:txBody>
      </p:sp>
      <p:pic>
        <p:nvPicPr>
          <p:cNvPr id="5" name="Picture 4" descr="family-overview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985" y="1463040"/>
            <a:ext cx="2388870" cy="1783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32461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family-overview-concept.png</a:t>
            </a:r>
          </a:p>
        </p:txBody>
      </p:sp>
      <p:pic>
        <p:nvPicPr>
          <p:cNvPr id="7" name="Picture 6" descr="family-overview-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585" y="1463040"/>
            <a:ext cx="2388870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89720" y="32461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family-overview-concept.png</a:t>
            </a:r>
          </a:p>
        </p:txBody>
      </p:sp>
      <p:pic>
        <p:nvPicPr>
          <p:cNvPr id="9" name="Picture 8" descr="hero-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85" y="3840480"/>
            <a:ext cx="2388870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6235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hero-concept.png</a:t>
            </a:r>
          </a:p>
        </p:txBody>
      </p:sp>
      <p:pic>
        <p:nvPicPr>
          <p:cNvPr id="11" name="Picture 10" descr="hero-conce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2585" y="3840480"/>
            <a:ext cx="238887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89720" y="56235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5577"/>
                </a:solidFill>
              </a:defRPr>
            </a:pPr>
            <a:r>
              <a:t>hero-concept.png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A4 = 440 Hz reference check.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Tuning targets logged in validation.csv.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Critical dimensions verified against design sheet and CAD.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Photos and revision notes after each major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Open Risks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TBDs in design sheet and BOM.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 price/availability not yet verified.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Generated images marked as concept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Empirical corrections await measured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Replace TBDs with measured/source-backed values.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Verify live supplier price and availability before buying.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Export final drawings and visual BOM images.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Regenerate this deck and print packet after final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Udu Drum Family — v4.1 Capstone  | 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